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743200" y="1645920"/>
            <a:ext cx="3657600" cy="0"/>
          </a:xfrm>
          <a:prstGeom prst="line">
            <a:avLst/>
          </a:prstGeom>
          <a:noFill/>
          <a:ln w="38100">
            <a:solidFill>
              <a:srgbClr val="6C3AED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 التكنولوجيا</a:t>
            </a:r>
            <a:endParaRPr lang="en-US" sz="4800" dirty="0"/>
          </a:p>
        </p:txBody>
      </p:sp>
      <p:sp>
        <p:nvSpPr>
          <p:cNvPr id="6" name="Text 2"/>
          <p:cNvSpPr/>
          <p:nvPr/>
        </p:nvSpPr>
        <p:spPr>
          <a:xfrm>
            <a:off x="457200" y="2651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Technology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التقدّم التكنولوجي "GJU 3030"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الجامعة الألمانية الأردنية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 Jordanian University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74320"/>
            <a:ext cx="73152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 والهدف | Vision &amp; Goal</a:t>
            </a:r>
            <a:endParaRPr lang="en-US" sz="3200" dirty="0"/>
          </a:p>
        </p:txBody>
      </p:sp>
      <p:sp>
        <p:nvSpPr>
          <p:cNvPr id="6" name="Shape 1"/>
          <p:cNvSpPr/>
          <p:nvPr/>
        </p:nvSpPr>
        <p:spPr>
          <a:xfrm>
            <a:off x="3200400" y="1645920"/>
            <a:ext cx="27432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منصة تعليمية متكاملة تجمع بين الذكاء الاصطناعي والتقنيات الحديثة لخدمة التعليم والبيئة والمجتمع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457200" y="2926080"/>
            <a:ext cx="1965960" cy="192024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6C3AED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63240"/>
            <a:ext cx="548640" cy="5486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57200" y="3657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ML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5720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أدوات ذكية</a:t>
            </a: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2606040" y="2926080"/>
            <a:ext cx="1965960" cy="192024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06B6D4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306324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606040" y="3657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الروبوتات والبناء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Robotics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260604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أدوات + 49 محاكاة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4754880" y="2926080"/>
            <a:ext cx="1965960" cy="192024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063240"/>
            <a:ext cx="548640" cy="5486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754880" y="3657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الاستدامة البيئية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475488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أدوات خضراء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6903720" y="2926080"/>
            <a:ext cx="1965960" cy="192024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EC4899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9520" y="3063240"/>
            <a:ext cx="548640" cy="5486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03720" y="365760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التعليم الدامج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Ed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6903720" y="425196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ترجمة لغة الإشارة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5" name="Text 16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 3030 — مسابقة التقدّم التكنولوجي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المنصة بالأرقام | Platform in Numbers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2743200" y="1005840"/>
            <a:ext cx="3657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74320" y="1371600"/>
            <a:ext cx="2057400" cy="1645920"/>
          </a:xfrm>
          <a:prstGeom prst="rect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74320" y="1463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274320" y="21488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محاكاة تفاعلية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Simulation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14600" y="1371600"/>
            <a:ext cx="2057400" cy="1645920"/>
          </a:xfrm>
          <a:prstGeom prst="rect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6C3AE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14600" y="1463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2514600" y="21488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ذكاء اصطناعي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754880" y="1371600"/>
            <a:ext cx="2057400" cy="1645920"/>
          </a:xfrm>
          <a:prstGeom prst="rect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754880" y="1463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26+</a:t>
            </a:r>
            <a:endParaRPr lang="en-US" sz="4000" dirty="0"/>
          </a:p>
        </p:txBody>
      </p:sp>
      <p:sp>
        <p:nvSpPr>
          <p:cNvPr id="14" name="Text 10"/>
          <p:cNvSpPr/>
          <p:nvPr/>
        </p:nvSpPr>
        <p:spPr>
          <a:xfrm>
            <a:off x="4754880" y="21488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إشارة مدعومة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Gesture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95160" y="1371600"/>
            <a:ext cx="2057400" cy="1645920"/>
          </a:xfrm>
          <a:prstGeom prst="rect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95160" y="1463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78+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6995160" y="21488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بالقاموس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Dictionary Word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097280" y="3291840"/>
            <a:ext cx="2286000" cy="1371600"/>
          </a:xfrm>
          <a:prstGeom prst="rect">
            <a:avLst/>
          </a:prstGeom>
          <a:solidFill>
            <a:srgbClr val="1E293B">
              <a:alpha val="8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9728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6"/>
          <p:cNvSpPr/>
          <p:nvPr/>
        </p:nvSpPr>
        <p:spPr>
          <a:xfrm>
            <a:off x="109728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مسارات تقنية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Tracks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66160" y="3291840"/>
            <a:ext cx="2286000" cy="1371600"/>
          </a:xfrm>
          <a:prstGeom prst="rect">
            <a:avLst/>
          </a:prstGeom>
          <a:solidFill>
            <a:srgbClr val="1E293B">
              <a:alpha val="8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56616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23" name="Text 19"/>
          <p:cNvSpPr/>
          <p:nvPr/>
        </p:nvSpPr>
        <p:spPr>
          <a:xfrm>
            <a:off x="356616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مادة علمية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35040" y="3291840"/>
            <a:ext cx="2286000" cy="1371600"/>
          </a:xfrm>
          <a:prstGeom prst="rect">
            <a:avLst/>
          </a:prstGeom>
          <a:solidFill>
            <a:srgbClr val="1E293B">
              <a:alpha val="8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35040" y="3383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3600" dirty="0"/>
          </a:p>
        </p:txBody>
      </p:sp>
      <p:sp>
        <p:nvSpPr>
          <p:cNvPr id="26" name="Text 22"/>
          <p:cNvSpPr/>
          <p:nvPr/>
        </p:nvSpPr>
        <p:spPr>
          <a:xfrm>
            <a:off x="6035040" y="3931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إبداع مفتوح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Innovation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8" name="Text 24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 3030 — مسابقة التقدّم التكنولوجي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الأول: الذكاء الاصطناعي</a:t>
            </a:r>
            <a:endParaRPr lang="en-US" sz="2600" dirty="0"/>
          </a:p>
        </p:txBody>
      </p:sp>
      <p:sp>
        <p:nvSpPr>
          <p:cNvPr id="6" name="Text 1"/>
          <p:cNvSpPr/>
          <p:nvPr/>
        </p:nvSpPr>
        <p:spPr>
          <a:xfrm>
            <a:off x="109728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1: AI &amp; Machine Learning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6C3AED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6C3AED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457200" y="1280160"/>
            <a:ext cx="54864" cy="64008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10" name="Text 5"/>
          <p:cNvSpPr/>
          <p:nvPr/>
        </p:nvSpPr>
        <p:spPr>
          <a:xfrm>
            <a:off x="685800" y="1280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ذروة العلم الذكي  |  Smart AI Assistant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85800" y="15819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تعليمي ذكي متعدد المهام يجيب على أسئلتك في جميع المواد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6C3AED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2011680"/>
            <a:ext cx="54864" cy="64008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14" name="Text 9"/>
          <p:cNvSpPr/>
          <p:nvPr/>
        </p:nvSpPr>
        <p:spPr>
          <a:xfrm>
            <a:off x="68580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توليد الصور بالذكاء الاصطناعي  |  AI Image Generation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8580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إنشاء صور تعليمية احترافية باستخدام وصف نصي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6C3AED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2743200"/>
            <a:ext cx="54864" cy="64008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2743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تقييم الرسومات بالذكاء الاصطناعي  |  AI Drawing Evaluation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5800" y="3044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وتحدّى أصدقاءك! الذكاء الاصطناعي يختار الفائز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6C3AED">
                <a:alpha val="40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22" name="Text 17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مساعد البرمجة الذكي  |  Smart Code Assistant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8580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ولّد أكواداً برمجية بأي لغة مع شرح مفصّل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6C3AED">
                <a:alpha val="40000"/>
              </a:srgbClr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4206240"/>
            <a:ext cx="54864" cy="64008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الصور التعليمية  |  Educational Image Analysis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85800" y="4507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حلّل صور الكتب والمسائل بالذكاء الاصطناعي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9" name="Text 24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1 — الذكاء الاصطناعي والتعلم الآلي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الثاني: الروبوتات والبناء الذكي</a:t>
            </a:r>
            <a:endParaRPr lang="en-US" sz="2400" dirty="0"/>
          </a:p>
        </p:txBody>
      </p:sp>
      <p:sp>
        <p:nvSpPr>
          <p:cNvPr id="6" name="Text 1"/>
          <p:cNvSpPr/>
          <p:nvPr/>
        </p:nvSpPr>
        <p:spPr>
          <a:xfrm>
            <a:off x="109728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2: Robotics &amp; Smart Construction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5"/>
          <p:cNvSpPr/>
          <p:nvPr/>
        </p:nvSpPr>
        <p:spPr>
          <a:xfrm>
            <a:off x="68580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 المعماري الذكي  |  Smart Architectural Design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85800" y="1719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موقع البناء واقتراح تصميمات مستدامة بالذكاء الاصطناعي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57200" y="2194560"/>
            <a:ext cx="54864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9"/>
          <p:cNvSpPr/>
          <p:nvPr/>
        </p:nvSpPr>
        <p:spPr>
          <a:xfrm>
            <a:off x="685800" y="2194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روبوت البناء التفاعلي  |  Interactive Construction Robot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85800" y="2542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تقنيات البناء الروبوتي والطباعة ثلاثية الأبعاد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017520"/>
            <a:ext cx="8229600" cy="68580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06B6D4">
                <a:alpha val="4000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3017520"/>
            <a:ext cx="54864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3"/>
          <p:cNvSpPr/>
          <p:nvPr/>
        </p:nvSpPr>
        <p:spPr>
          <a:xfrm>
            <a:off x="6858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التصميم الداخلي التفاعلي  |  Interactive Interior Design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85800" y="33649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توصيات ذكية للألوان والإضاءة والأثاث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E293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 محاكاة تفاعلية — Interactive Simulations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فيزياء | كيمياء | أحياء | فلك | رياضيات | إلكترونيات | هندسة ميكانيكية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2 — الروبوتات والبناء الذكي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2880"/>
            <a:ext cx="73152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المحاكيات التفاعلية | Interactive Simulations</a:t>
            </a:r>
            <a:endParaRPr lang="en-US" sz="2600" dirty="0"/>
          </a:p>
        </p:txBody>
      </p:sp>
      <p:sp>
        <p:nvSpPr>
          <p:cNvPr id="6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1E293B">
              <a:alpha val="65000"/>
            </a:srgbClr>
          </a:solidFill>
          <a:ln/>
        </p:spPr>
      </p:sp>
      <p:sp>
        <p:nvSpPr>
          <p:cNvPr id="8" name="Shape 3"/>
          <p:cNvSpPr/>
          <p:nvPr/>
        </p:nvSpPr>
        <p:spPr>
          <a:xfrm>
            <a:off x="457200" y="1737360"/>
            <a:ext cx="54864" cy="6858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4"/>
          <p:cNvSpPr/>
          <p:nvPr/>
        </p:nvSpPr>
        <p:spPr>
          <a:xfrm>
            <a:off x="685800" y="1737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فيزياء — Physics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685800" y="20391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البصريات | الموجات | الكهرومغناطيسية | ميكانيكا الكم | النسبية | الحركة الدائرية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7589520" y="18745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589520" y="18745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57200" y="2514600"/>
            <a:ext cx="8229600" cy="685800"/>
          </a:xfrm>
          <a:prstGeom prst="rect">
            <a:avLst/>
          </a:prstGeom>
          <a:solidFill>
            <a:srgbClr val="1E293B">
              <a:alpha val="65000"/>
            </a:srgbClr>
          </a:solidFill>
          <a:ln/>
        </p:spPr>
      </p:sp>
      <p:sp>
        <p:nvSpPr>
          <p:cNvPr id="14" name="Shape 9"/>
          <p:cNvSpPr/>
          <p:nvPr/>
        </p:nvSpPr>
        <p:spPr>
          <a:xfrm>
            <a:off x="457200" y="251460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0"/>
          <p:cNvSpPr/>
          <p:nvPr/>
        </p:nvSpPr>
        <p:spPr>
          <a:xfrm>
            <a:off x="68580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كيمياء — Chemistry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85800" y="28163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التفاعلات النووية | الكيمياء التحليلية | العضوية | الكهربائية | الأحماض والقواعد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589520" y="265176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589520" y="2651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solidFill>
            <a:srgbClr val="1E293B">
              <a:alpha val="6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291840"/>
            <a:ext cx="54864" cy="685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3291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أحياء — Biology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5800" y="3593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الوراثة | البيولوجيا الجزيئية | النظام البيئي | جسم الإنسان | المناعة | التطور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589520" y="342900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589520" y="342900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1E293B">
              <a:alpha val="6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457200" y="406908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هندسة وفلك — Engineering &amp; Astronomy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85800" y="43708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الشمسي | الصواريخ | الإلكترونيات | الديناميكا الحرارية | المواد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7589520" y="420624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589520" y="42062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 محاكاة تفاعلية عبر جميع التخصصات العلمية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الثالث: الاستدامة البيئية</a:t>
            </a:r>
            <a:endParaRPr lang="en-US" sz="2600" dirty="0"/>
          </a:p>
        </p:txBody>
      </p:sp>
      <p:sp>
        <p:nvSpPr>
          <p:cNvPr id="6" name="Text 1"/>
          <p:cNvSpPr/>
          <p:nvPr/>
        </p:nvSpPr>
        <p:spPr>
          <a:xfrm>
            <a:off x="109728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3: Environmental Sustainability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57200" y="128016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حاسبة البصمة الكربونية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400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Footprint Calculator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احسب بصمتك الكربونية وتعرّف على طرق تقليلها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57200" y="237744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57200" y="237744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0"/>
          <p:cNvSpPr/>
          <p:nvPr/>
        </p:nvSpPr>
        <p:spPr>
          <a:xfrm>
            <a:off x="64008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مدرسية بيئية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Environmental Projects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4008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أفكار مشاريع بيئية مبتكرة مع خطط تنفيذ عملية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57200" y="347472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347472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مشاريع منزلية بيئية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Eco Projects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4008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منزلك إلى بيئة مستدامة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54880" y="128016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54880" y="128016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0"/>
          <p:cNvSpPr/>
          <p:nvPr/>
        </p:nvSpPr>
        <p:spPr>
          <a:xfrm>
            <a:off x="4937760" y="1280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 الاستدامة الشخصي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93776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Sustainability Index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37760" y="1828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قيّم مستوى استدامتك واحصل على توصيات مخصصة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754880" y="237744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754880" y="237744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5"/>
          <p:cNvSpPr/>
          <p:nvPr/>
        </p:nvSpPr>
        <p:spPr>
          <a:xfrm>
            <a:off x="4937760" y="2377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خبير إعادة التدوير الذكي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937760" y="2697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Recycling Expert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حوّل نفاياتك إلى مشاريع إبداعية مع AI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754880" y="3474720"/>
            <a:ext cx="4114800" cy="960120"/>
          </a:xfrm>
          <a:prstGeom prst="rect">
            <a:avLst/>
          </a:prstGeom>
          <a:solidFill>
            <a:srgbClr val="1E293B">
              <a:alpha val="6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54880" y="347472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0"/>
          <p:cNvSpPr/>
          <p:nvPr/>
        </p:nvSpPr>
        <p:spPr>
          <a:xfrm>
            <a:off x="4937760" y="3474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التنبؤ البيئي الذكي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493776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Eco Prediction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937760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بياناتك البيئية وتوقع البصمة الكربونية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39" name="Text 34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3 — الاستدامة البيئية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8600"/>
            <a:ext cx="640080" cy="64008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09728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الرابع: التعليم الدامج</a:t>
            </a:r>
            <a:endParaRPr lang="en-US" sz="2600" dirty="0"/>
          </a:p>
        </p:txBody>
      </p:sp>
      <p:sp>
        <p:nvSpPr>
          <p:cNvPr id="6" name="Text 1"/>
          <p:cNvSpPr/>
          <p:nvPr/>
        </p:nvSpPr>
        <p:spPr>
          <a:xfrm>
            <a:off x="1097280" y="685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4: Inclusive Education &amp; Assistive Tech</a:t>
            </a:r>
            <a:endParaRPr lang="en-US" sz="1400" dirty="0"/>
          </a:p>
        </p:txBody>
      </p:sp>
      <p:sp>
        <p:nvSpPr>
          <p:cNvPr id="7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EC4899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1554480"/>
            <a:ext cx="731520" cy="7315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828800" y="1508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مترجم لغة الإشارة الذكي — Smart Sign Language Translator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1828800" y="1965960"/>
            <a:ext cx="6583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تعرف فوري على 20+ إشارة يد باستخدام MediaPipe AI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نطق صوتي تلقائي فوري باللغة العربية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قاموس تفاعلي يضم 78+ كلمة مصنّفة بـ 9 فئات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وضع تجريبي بدون كاميرا لتعلم الإشارات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45720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57200" y="3383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AI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5720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تعرف على اليد بدقة عالية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260604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606040" y="3383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78+ كلمة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60604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قاموس شامل مصنّف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75488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754880" y="3383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نطق فوري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75488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قراءة صوتية عربية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90372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6C3AE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903720" y="33832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فئات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03720" y="38404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تحيات، أفعال، مشاعر...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4 — التعليم الدامج وأدوات الإعاقة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2880"/>
            <a:ext cx="73152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التقنيات المستخدمة | Tech Stack</a:t>
            </a:r>
            <a:endParaRPr lang="en-US" sz="2800" dirty="0"/>
          </a:p>
        </p:txBody>
      </p:sp>
      <p:sp>
        <p:nvSpPr>
          <p:cNvPr id="6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25400">
            <a:solidFill>
              <a:srgbClr val="6C3AED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57200" y="173736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572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TypeScript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5720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Framework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2606040" y="173736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6060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60604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Database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54880" y="173736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75488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75488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Models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173736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9037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903720" y="23774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Tracking AI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6C3AE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Simulations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60604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60604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260604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Styling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75488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5488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75488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903720" y="3291840"/>
            <a:ext cx="1965960" cy="128016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903720" y="34747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903720" y="3931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تقنية متكاملة — Full-Stack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 | System Architecture</a:t>
            </a:r>
            <a:endParaRPr lang="en-US" sz="2600" dirty="0"/>
          </a:p>
        </p:txBody>
      </p:sp>
      <p:sp>
        <p:nvSpPr>
          <p:cNvPr id="5" name="Shape 1"/>
          <p:cNvSpPr/>
          <p:nvPr/>
        </p:nvSpPr>
        <p:spPr>
          <a:xfrm>
            <a:off x="2743200" y="82296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0080" y="1097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 Frontend Layer — React + TypeScript + Tailwind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822960" y="1828800"/>
            <a:ext cx="7498080" cy="54864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6C3A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05840" y="1828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State Management — React Context + TanStack Query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188720" y="2560320"/>
            <a:ext cx="6766560" cy="54864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371600" y="2560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Layer — Gemini API + MediaPipe + Lovable AI Gateway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554480" y="3291840"/>
            <a:ext cx="6035040" cy="54864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737360" y="32918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Backend Layer — Supabase (Auth + DB + Storage + Edge Functions)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920240" y="4023360"/>
            <a:ext cx="5303520" cy="548640"/>
          </a:xfrm>
          <a:prstGeom prst="rect">
            <a:avLst/>
          </a:prstGeom>
          <a:solidFill>
            <a:srgbClr val="1E293B">
              <a:alpha val="7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0312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Deployment — Lovable Cloud + CDN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480560" y="164592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480560" y="237744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80560" y="31089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80560" y="384048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 المتكاملة للمنصة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2880"/>
            <a:ext cx="73152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المستخدم | User Experience</a:t>
            </a:r>
            <a:endParaRPr lang="en-US" sz="2800" dirty="0"/>
          </a:p>
        </p:txBody>
      </p:sp>
      <p:sp>
        <p:nvSpPr>
          <p:cNvPr id="6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57200" y="173736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5720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متجاوب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45720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45720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على جميع الأجهزة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3337560" y="173736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6C3AE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33756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تأثيرات حركية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33756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Effects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3756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animations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217920" y="173736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6217920" y="18745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21792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RTL UI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17920" y="25146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دعم كامل للعربية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أداء عالي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5720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 optimization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337560" y="329184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EC489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337560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شامل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333756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Accessibility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33756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لغة إشارة + صوت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17920" y="3291840"/>
            <a:ext cx="2697480" cy="1325880"/>
          </a:xfrm>
          <a:prstGeom prst="rect">
            <a:avLst/>
          </a:prstGeom>
          <a:solidFill>
            <a:srgbClr val="1E293B">
              <a:alpha val="7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17920" y="34290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فضائي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6217920" y="37490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Theme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17920" y="4069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بصرية مميزة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مستخدم متميزة عبر جميع الأجهزة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82880"/>
            <a:ext cx="731520" cy="73152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والأثر | Innovation &amp; Impact</a:t>
            </a:r>
            <a:endParaRPr lang="en-US" sz="2800" dirty="0"/>
          </a:p>
        </p:txBody>
      </p:sp>
      <p:sp>
        <p:nvSpPr>
          <p:cNvPr id="6" name="Shape 1"/>
          <p:cNvSpPr/>
          <p:nvPr/>
        </p:nvSpPr>
        <p:spPr>
          <a:xfrm>
            <a:off x="2743200" y="1463040"/>
            <a:ext cx="3657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8" name="Shape 3"/>
          <p:cNvSpPr/>
          <p:nvPr/>
        </p:nvSpPr>
        <p:spPr>
          <a:xfrm>
            <a:off x="457200" y="1645920"/>
            <a:ext cx="54864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9" name="Shape 4"/>
          <p:cNvSpPr/>
          <p:nvPr/>
        </p:nvSpPr>
        <p:spPr>
          <a:xfrm>
            <a:off x="731520" y="1755648"/>
            <a:ext cx="228600" cy="22860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0" name="Text 5"/>
          <p:cNvSpPr/>
          <p:nvPr/>
        </p:nvSpPr>
        <p:spPr>
          <a:xfrm>
            <a:off x="109728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منصة عربية تدمج لغة الإشارة مع AI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8"/>
          <p:cNvSpPr/>
          <p:nvPr/>
        </p:nvSpPr>
        <p:spPr>
          <a:xfrm>
            <a:off x="731520" y="2304288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9"/>
          <p:cNvSpPr/>
          <p:nvPr/>
        </p:nvSpPr>
        <p:spPr>
          <a:xfrm>
            <a:off x="109728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49+ محاكاة تفاعلية تغطي جميع العلوم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16" name="Shape 11"/>
          <p:cNvSpPr/>
          <p:nvPr/>
        </p:nvSpPr>
        <p:spPr>
          <a:xfrm>
            <a:off x="457200" y="2743200"/>
            <a:ext cx="54864" cy="457200"/>
          </a:xfrm>
          <a:prstGeom prst="rect">
            <a:avLst/>
          </a:prstGeom>
          <a:solidFill>
            <a:srgbClr val="6C3AED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2852928"/>
            <a:ext cx="228600" cy="228600"/>
          </a:xfrm>
          <a:prstGeom prst="ellipse">
            <a:avLst/>
          </a:prstGeom>
          <a:solidFill>
            <a:srgbClr val="6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109728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ذكاء اصطناعي متعدد: Gemini + MediaPipe + Lovable AI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57200" y="3291840"/>
            <a:ext cx="54864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6"/>
          <p:cNvSpPr/>
          <p:nvPr/>
        </p:nvSpPr>
        <p:spPr>
          <a:xfrm>
            <a:off x="731520" y="3401568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17"/>
          <p:cNvSpPr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بيئي متكامل للاستدامة والتنبؤ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457200" y="38404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520" y="3950208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1"/>
          <p:cNvSpPr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 شامل يراعي جميع الإعاقات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457200" y="4389120"/>
            <a:ext cx="54864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4"/>
          <p:cNvSpPr/>
          <p:nvPr/>
        </p:nvSpPr>
        <p:spPr>
          <a:xfrm>
            <a:off x="731520" y="449884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Text 25"/>
          <p:cNvSpPr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بنية تقنية حديثة قابلة للتوسع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6C3AED">
              <a:alpha val="2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274320" y="4709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ابتكار تقني يصنع الفرق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1520" y="-457200"/>
            <a:ext cx="3657600" cy="3657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200400"/>
            <a:ext cx="2743200" cy="27432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743200" y="1371600"/>
            <a:ext cx="3657600" cy="0"/>
          </a:xfrm>
          <a:prstGeom prst="line">
            <a:avLst/>
          </a:prstGeom>
          <a:noFill/>
          <a:ln w="38100">
            <a:solidFill>
              <a:srgbClr val="6C3AED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en-US" sz="5200" dirty="0"/>
          </a:p>
        </p:txBody>
      </p:sp>
      <p:sp>
        <p:nvSpPr>
          <p:cNvPr id="6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3200400" y="3017520"/>
            <a:ext cx="27432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مسابقة التقدّم التكنولوجي "GJU 3030"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الجامعة الألمانية الأردنية — German Jordanian University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42062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4251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galaxy-knowledge-hub.lovable.app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7432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Technology - مستقبل التكنولوجيا</dc:title>
  <dc:subject>PptxGenJS Presentation</dc:subject>
  <dc:creator>مستقبل التكنولوجيا - GJU 3030</dc:creator>
  <cp:lastModifiedBy>مستقبل التكنولوجيا - GJU 3030</cp:lastModifiedBy>
  <cp:revision>1</cp:revision>
  <dcterms:created xsi:type="dcterms:W3CDTF">2026-03-22T08:46:05Z</dcterms:created>
  <dcterms:modified xsi:type="dcterms:W3CDTF">2026-03-22T08:46:05Z</dcterms:modified>
</cp:coreProperties>
</file>